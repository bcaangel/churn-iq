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0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64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-548640"/>
            <a:ext cx="3108960" cy="3108960"/>
          </a:xfrm>
          <a:prstGeom prst="ellipse">
            <a:avLst/>
          </a:prstGeom>
          <a:solidFill>
            <a:srgbClr val="243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645920" y="457200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CUSTOMER ANALYTICS · POWER BI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Analytics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Insights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MySQL + Power BI project analyzing customer churn, behaviour and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risk in the banking industry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194560" cy="0"/>
          </a:xfrm>
          <a:prstGeom prst="line">
            <a:avLst/>
          </a:prstGeom>
          <a:noFill/>
          <a:ln w="31750">
            <a:solidFill>
              <a:srgbClr val="3D8B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5961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N.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project?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that examines why bank customers churn (leave) or stay, using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data storage,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ETL, and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DAX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analysis and an interactive dashboard.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9502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Financial Services — where customer retention directly drives revenue and profitability.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1846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churn patterns and high-risk customer segments to support data-driven retention strategy.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65392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65392" y="2194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lose a significant number of customers every year due to churn — directly hurting revenue, acquisition cost, and long-term profitability.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65392" y="3246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understanding why customers leave, banks struggle to design effective retention strategies and improve satisfaction.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65392" y="4343400"/>
            <a:ext cx="4754880" cy="0"/>
          </a:xfrm>
          <a:prstGeom prst="line">
            <a:avLst/>
          </a:prstGeom>
          <a:noFill/>
          <a:ln w="12700">
            <a:solidFill>
              <a:srgbClr val="3D8B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65392" y="4526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identify churn patterns and high-risk segments through analysis and visualization, and turn them into actionable retention insight.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&amp; Behaviour Insights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churn vs non-churn behaviour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309360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0936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0" y="1508760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factors that contribute to churn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1520" y="25968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432304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active and inactive customers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432304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09360" y="25968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936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2432304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behaviour across demographics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35584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3355848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churn by geography and gender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335584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0936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093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3355848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impact of credit score, balance &amp; salary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279392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31520" y="4443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3152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4279392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churn by tenure &amp; number of products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4279392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09360" y="4443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0936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49440" y="4279392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customer segments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202936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31520" y="5367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3152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71600" y="5202936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26480" y="5202936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309360" y="5367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30936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949440" y="5202936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retention decisions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&amp; Behaviour Insights Dashboard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Tools / Technologies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Fields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901952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01568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Surname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23774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37744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01568" y="23774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" y="28529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2852928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01568" y="28529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28416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" y="33284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3328416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01568" y="33284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803904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8368" y="38039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3803904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01568" y="38039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Status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79392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8368" y="42793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 Status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4279392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01568" y="42793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Salary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8368" y="47548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Status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bank-customer churn dataset, prepared for database and dashboard analysis.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45352" y="1481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45352" y="192024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 w="12700">
            <a:solidFill>
              <a:srgbClr val="E3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46520" y="1920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19202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creation, table management &amp; SQL analysis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45352" y="256032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46520" y="2560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25603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 and visualization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45352" y="320040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 w="12700">
            <a:solidFill>
              <a:srgbClr val="E3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46520" y="3200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46720" y="32004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and data transformation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45352" y="384048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46520" y="3840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38404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and calculations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45352" y="448056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 w="12700">
            <a:solidFill>
              <a:srgbClr val="E3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46520" y="44805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Dataset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46720" y="44805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45352" y="512064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46520" y="51206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46720" y="51206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and version control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&amp; Behaviour Insights Dashboard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 &amp;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261872" cy="1051560"/>
          </a:xfrm>
          <a:prstGeom prst="roundRect">
            <a:avLst>
              <a:gd name="adj" fmla="val 6087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Dataset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10512" y="2331720"/>
            <a:ext cx="14238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52897" y="2331720"/>
            <a:ext cx="1261872" cy="1051560"/>
          </a:xfrm>
          <a:prstGeom prst="roundRect">
            <a:avLst>
              <a:gd name="adj" fmla="val 6087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98617" y="233172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Tables)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14769" y="2331720"/>
            <a:ext cx="14238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57154" y="2331720"/>
            <a:ext cx="1261872" cy="1051560"/>
          </a:xfrm>
          <a:prstGeom prst="roundRect">
            <a:avLst>
              <a:gd name="adj" fmla="val 6087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02874" y="233172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9026" y="2331720"/>
            <a:ext cx="14238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61411" y="2331720"/>
            <a:ext cx="1261872" cy="1051560"/>
          </a:xfrm>
          <a:prstGeom prst="roundRect">
            <a:avLst>
              <a:gd name="adj" fmla="val 6087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7131" y="233172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23283" y="2331720"/>
            <a:ext cx="14238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65669" y="2331720"/>
            <a:ext cx="1261872" cy="1051560"/>
          </a:xfrm>
          <a:prstGeom prst="roundRect">
            <a:avLst>
              <a:gd name="adj" fmla="val 6087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1389" y="233172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27541" y="2331720"/>
            <a:ext cx="14238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69926" y="2331720"/>
            <a:ext cx="1261872" cy="1051560"/>
          </a:xfrm>
          <a:prstGeom prst="roundRect">
            <a:avLst>
              <a:gd name="adj" fmla="val 6087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15646" y="233172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31798" y="2331720"/>
            <a:ext cx="14238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74183" y="2331720"/>
            <a:ext cx="1261872" cy="1051560"/>
          </a:xfrm>
          <a:prstGeom prst="roundRect">
            <a:avLst>
              <a:gd name="adj" fmla="val 6087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019903" y="233172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36055" y="2331720"/>
            <a:ext cx="14238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378440" y="2331720"/>
            <a:ext cx="1261872" cy="1051560"/>
          </a:xfrm>
          <a:prstGeom prst="roundRect">
            <a:avLst>
              <a:gd name="adj" fmla="val 6087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424160" y="233172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Workflow (Power Query)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425196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Pull data from MySQL database
</a:t>
            </a:r>
            <a:r>
              <a:rPr lang="en-US" sz="125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Clean nulls &amp; duplicates, fix types, standardize values, build categories
</a:t>
            </a:r>
            <a:r>
              <a:rPr lang="en-US" sz="125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Load the transformed data into the Power BI model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38862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20840" y="4041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 Structure (5 tables)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20840" y="43891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— ID, Surname, Age, Gender, Geography
•  Financial — Credit Score, Balance, Salary
•  Account — Tenure, Products, Card, Active flag
•  Churn — Churn Status
•  Segment/Behaviour — customer segmentation
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&amp; Behaviour Insights Dashboard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Data Modelling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Checklist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duplicate Customer IDs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/ null values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2944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unnecessary spaces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3328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categorical values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3712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Gender &amp; Geography values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788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4096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Churn values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868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numerical fields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469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4864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unnecessary columns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76672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54681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categories created: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Group, Credit Score Category, Balance Category, Salary Category, Tenure Group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1481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8160" y="23317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138160" y="2331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ID)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187452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55080" y="1874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324612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55080" y="3246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561320" y="187452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561320" y="1874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424160" y="324612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0424160" y="3246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55280" y="2194560"/>
            <a:ext cx="182880" cy="457200"/>
          </a:xfrm>
          <a:prstGeom prst="line">
            <a:avLst/>
          </a:prstGeom>
          <a:noFill/>
          <a:ln w="19050">
            <a:solidFill>
              <a:srgbClr val="9CB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955280" y="2834640"/>
            <a:ext cx="182880" cy="731520"/>
          </a:xfrm>
          <a:prstGeom prst="line">
            <a:avLst/>
          </a:prstGeom>
          <a:noFill/>
          <a:ln w="19050">
            <a:solidFill>
              <a:srgbClr val="9CB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966960" y="2194560"/>
            <a:ext cx="594360" cy="457200"/>
          </a:xfrm>
          <a:prstGeom prst="line">
            <a:avLst/>
          </a:prstGeom>
          <a:noFill/>
          <a:ln w="19050">
            <a:solidFill>
              <a:srgbClr val="9CB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966960" y="2834640"/>
            <a:ext cx="457200" cy="731520"/>
          </a:xfrm>
          <a:prstGeom prst="line">
            <a:avLst/>
          </a:prstGeom>
          <a:noFill/>
          <a:ln w="19050">
            <a:solidFill>
              <a:srgbClr val="9CB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45352" y="4297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links all tables — Customer, Financial, Account, Behaviour and Churn data are analyzed together as one connected model.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&amp; Behaviour Insights Dashboard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Business Questions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39312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636776"/>
            <a:ext cx="3639312" cy="1554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6537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does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have in total?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734056"/>
            <a:ext cx="3364992" cy="804672"/>
          </a:xfrm>
          <a:prstGeom prst="roundRect">
            <a:avLst>
              <a:gd name="adj" fmla="val 5682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734056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DISTINCTCOUNT(Customer[CustomerID])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481328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325112" y="1481328"/>
            <a:ext cx="3639312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25112" y="1636776"/>
            <a:ext cx="3639312" cy="1554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62272" y="1481328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62272" y="186537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churned?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62272" y="24414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Churn Customers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62272" y="2734056"/>
            <a:ext cx="3364992" cy="804672"/>
          </a:xfrm>
          <a:prstGeom prst="roundRect">
            <a:avLst>
              <a:gd name="adj" fmla="val 5682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53712" y="2734056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 Customers],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Churn[Churn]=1)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01584" y="1481328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101584" y="1481328"/>
            <a:ext cx="3639312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101584" y="1636776"/>
            <a:ext cx="3639312" cy="1554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38744" y="1481328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38744" y="186537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with the bank?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38744" y="24414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Non-Churn Customers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38744" y="2734056"/>
            <a:ext cx="3364992" cy="804672"/>
          </a:xfrm>
          <a:prstGeom prst="roundRect">
            <a:avLst>
              <a:gd name="adj" fmla="val 5682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330184" y="2734056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 Customers],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Churn[Churn]=0)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3639312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48640" y="3950208"/>
            <a:ext cx="3639312" cy="1554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5800" y="379476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417880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churning?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47548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5047488"/>
            <a:ext cx="3364992" cy="804672"/>
          </a:xfrm>
          <a:prstGeom prst="roundRect">
            <a:avLst>
              <a:gd name="adj" fmla="val 5682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77240" y="5047488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Churn Customers],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Customers], 0)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25112" y="37947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325112" y="3794760"/>
            <a:ext cx="3639312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325112" y="3950208"/>
            <a:ext cx="3639312" cy="1554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462272" y="379476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62272" y="417880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are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engaged?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462272" y="47548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62272" y="5047488"/>
            <a:ext cx="3364992" cy="804672"/>
          </a:xfrm>
          <a:prstGeom prst="roundRect">
            <a:avLst>
              <a:gd name="adj" fmla="val 5682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553712" y="5047488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 Customers],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Account[ActiveMember]=1)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01584" y="37947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101584" y="3794760"/>
            <a:ext cx="3639312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101584" y="3950208"/>
            <a:ext cx="3639312" cy="1554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238744" y="379476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38744" y="417880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creditworthiness of customers?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238744" y="47548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Credit Score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238744" y="5047488"/>
            <a:ext cx="3364992" cy="804672"/>
          </a:xfrm>
          <a:prstGeom prst="roundRect">
            <a:avLst>
              <a:gd name="adj" fmla="val 5682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330184" y="5047488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AVERAGE(Financial[CreditScore])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&amp; Behaviour Insights Dashboard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5 Pages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44168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4416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1408176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" y="365760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churn &amp; non-churn customers, churn rate, geography &amp; gender split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43784" y="173736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39312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3931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80944" y="27432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9544" y="3520440"/>
            <a:ext cx="1408176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08376" y="365760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churn by gender &amp; age group, geography-wise churn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38928" y="173736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34456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3445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76088" y="27432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Insights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04688" y="3520440"/>
            <a:ext cx="1408176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303520" y="365760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credit score, balance &amp; salary category; average credit score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34072" y="173736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3D8B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2960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29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71232" y="27432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Behaviour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3520440"/>
            <a:ext cx="1408176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98664" y="365760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tenure, product count, active/inactive &amp; credit card status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29216" y="173736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524744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52474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866376" y="27432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Risk Analysis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94976" y="3520440"/>
            <a:ext cx="1408176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893808" y="365760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segments, churn by geography/age/product, risk category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Slicers:  Geography · Gender · Age Group · Credit Score / Balance / Salary Category · Tenure Group · Products · Active Member · Credit Card · Churn Status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&amp; Behaviour Insights Dashboard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8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Overall churn rate compared against non-churned customers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Churn patterns vary across geographical regions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Demographic groups show different churn behaviour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Credit score, balance &amp; salary relate to churn likelihood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Churn varies with number of products held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Active vs inactive customers show different risk levels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Churn differs across tenure groups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45352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19672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10312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Identify high-risk customer segments early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 targeted retention campaigns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Improve engagement with inactive customers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Offer personalized products based on behaviour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Monitor customers with reduced activity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Give personalized offers to valuable customers
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Continuously monitor churn KPIs via dashboards
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&amp; Behaviour Insights 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Enhancements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MySQL, ETL, Power BI, Power Query and DAX, this project turns raw customer data into meaningful business insight — helping banks identify high-risk segments and build targeted, data-driven retention strategies.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churn prediction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31546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09360" y="31546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churn probability 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7764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banking data integration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3776472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09360" y="37764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transaction history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98264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3982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analysis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4398264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09360" y="43982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internet banking usage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020056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50200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for high-risk customers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5020056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09360" y="50200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retention recommendation system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6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6108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&amp; Behaviour Insights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6108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ANGEL 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1107</Words>
  <Application>Microsoft Office PowerPoint</Application>
  <PresentationFormat>Widescreen</PresentationFormat>
  <Paragraphs>233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S0395935</cp:lastModifiedBy>
  <cp:revision>1</cp:revision>
  <dcterms:created xsi:type="dcterms:W3CDTF">2026-08-21T06:55:34Z</dcterms:created>
  <dcterms:modified xsi:type="dcterms:W3CDTF">2026-08-21T07:07:20Z</dcterms:modified>
</cp:coreProperties>
</file>