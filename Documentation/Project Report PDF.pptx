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 snapToObjects="1">
      <p:cViewPr varScale="1">
        <p:scale>
          <a:sx n="36" d="100"/>
          <a:sy n="36" d="100"/>
        </p:scale>
        <p:origin x="115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CUSTOMER CHURN ANALYTICS</a:t>
            </a:r>
            <a:br/>
            <a:r>
              <a:t>&amp; BEHAVIOUR INSIGHTS</a:t>
            </a:r>
          </a:p>
          <a:p>
            <a:pPr>
              <a:spcBef>
                <a:spcPts val="1600"/>
              </a:spcBef>
              <a:defRPr sz="2000">
                <a:solidFill>
                  <a:srgbClr val="DCE1EB"/>
                </a:solidFill>
              </a:defRPr>
            </a:pPr>
            <a:r>
              <a:t>Power BI Dashboard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Analyzing customer behaviour, churn patterns, financial profiles and risk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CE1EB"/>
                </a:solidFill>
              </a:defRPr>
            </a:pPr>
            <a:r>
              <a:t>Presented by: Angel N  |  BCA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A"/>
                </a:solidFill>
              </a:defRPr>
            </a:pPr>
            <a:r>
              <a:t>Business-focused customer churn analysis for a banking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" y="1691638"/>
            <a:ext cx="3081528" cy="1645921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churn means a customer stops using or leaves the bank's services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8288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632889"/>
            <a:ext cx="1644489" cy="6719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rPr dirty="0"/>
              <a:t>What is Churn?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73152" cy="1828800"/>
          </a:xfrm>
          <a:prstGeom prst="rect">
            <a:avLst/>
          </a:prstGeom>
          <a:solidFill>
            <a:srgbClr val="31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1668780"/>
            <a:ext cx="30175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Why Analyse It?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Understanding who is likely to churn helps the bank take proactive retention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429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92440" y="1508760"/>
            <a:ext cx="73152" cy="1828800"/>
          </a:xfrm>
          <a:prstGeom prst="rect">
            <a:avLst/>
          </a:prstGeom>
          <a:solidFill>
            <a:srgbClr val="3C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39"/>
            <a:ext cx="30175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Dashboard Goal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Convert customer, financial and behavioural data into clear decision-ready insights.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D3440"/>
                </a:solidFill>
              </a:defRPr>
            </a:pPr>
            <a:r>
              <a:t>The dashboard combines customer profile, financial and behaviour indicators.</a:t>
            </a:r>
          </a:p>
          <a:p>
            <a:pPr>
              <a:spcAft>
                <a:spcPts val="1200"/>
              </a:spcAft>
              <a:defRPr sz="1700" b="0">
                <a:solidFill>
                  <a:srgbClr val="2D3440"/>
                </a:solidFill>
              </a:defRPr>
            </a:pPr>
            <a:r>
              <a:t>Interactive filters allow users to explore segments and compare churn patterns.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014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2.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A"/>
                </a:solidFill>
              </a:defRPr>
            </a:pPr>
            <a:r>
              <a:t>The bank needs to identify churn drivers and high-risk customer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D3440"/>
                </a:solidFill>
              </a:defRPr>
            </a:pPr>
            <a:r>
              <a:t>High customer churn can reduce revenue, customer lifetime value and long-term relationships.</a:t>
            </a:r>
          </a:p>
          <a:p>
            <a:pPr>
              <a:spcAft>
                <a:spcPts val="1200"/>
              </a:spcAft>
              <a:defRPr sz="1900" b="0">
                <a:solidFill>
                  <a:srgbClr val="2D3440"/>
                </a:solidFill>
              </a:defRPr>
            </a:pPr>
            <a:r>
              <a:t>Management may not easily identify which customer segments have higher churn.</a:t>
            </a:r>
          </a:p>
          <a:p>
            <a:pPr>
              <a:spcAft>
                <a:spcPts val="1200"/>
              </a:spcAft>
              <a:defRPr sz="1900" b="0">
                <a:solidFill>
                  <a:srgbClr val="2D3440"/>
                </a:solidFill>
              </a:defRPr>
            </a:pPr>
            <a:r>
              <a:t>Customer behaviour differs by geography, gender, age, tenure, products and membership status.</a:t>
            </a:r>
          </a:p>
          <a:p>
            <a:pPr>
              <a:spcAft>
                <a:spcPts val="1200"/>
              </a:spcAft>
              <a:defRPr sz="1900" b="0">
                <a:solidFill>
                  <a:srgbClr val="2D3440"/>
                </a:solidFill>
              </a:defRPr>
            </a:pPr>
            <a:r>
              <a:t>Financial indicators such as credit score, balance and estimated salary can provide additional context.</a:t>
            </a:r>
          </a:p>
          <a:p>
            <a:pPr>
              <a:spcAft>
                <a:spcPts val="1200"/>
              </a:spcAft>
              <a:defRPr sz="1900" b="0">
                <a:solidFill>
                  <a:srgbClr val="2D3440"/>
                </a:solidFill>
              </a:defRPr>
            </a:pPr>
            <a:r>
              <a:t>Retention campaigns should be targeted instead of treating every customer in the same 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3.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A"/>
                </a:solidFill>
              </a:defRPr>
            </a:pPr>
            <a:r>
              <a:t>From raw customer data to actionable business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7373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73736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Measure churn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Track total customers, churned customers, active customers and churn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17320"/>
            <a:ext cx="3429000" cy="17373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26280" y="1417320"/>
            <a:ext cx="73152" cy="1737360"/>
          </a:xfrm>
          <a:prstGeom prst="rect">
            <a:avLst/>
          </a:prstGeom>
          <a:solidFill>
            <a:srgbClr val="31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Profile customers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Analyse demographics such as geography, gender and age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17320"/>
            <a:ext cx="3429000" cy="17373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21040" y="1417320"/>
            <a:ext cx="73152" cy="1737360"/>
          </a:xfrm>
          <a:prstGeom prst="rect">
            <a:avLst/>
          </a:prstGeom>
          <a:solidFill>
            <a:srgbClr val="3C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1600200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Understand behaviour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Study tenure, number of products and membership/activity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3429000" cy="17373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73152" cy="1737360"/>
          </a:xfrm>
          <a:prstGeom prst="rect">
            <a:avLst/>
          </a:prstGeom>
          <a:solidFill>
            <a:srgbClr val="91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49040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Analyse finances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Compare credit score, balance and salary-related customer segments.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566160"/>
            <a:ext cx="3429000" cy="17373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26280" y="3566160"/>
            <a:ext cx="73152" cy="1737360"/>
          </a:xfrm>
          <a:prstGeom prst="rect">
            <a:avLst/>
          </a:prstGeom>
          <a:solidFill>
            <a:srgbClr val="DC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3749040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Identify risk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Classify and analyse high-risk customer groups for retention planning.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014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4. 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A"/>
                </a:solidFill>
              </a:defRPr>
            </a:pPr>
            <a:r>
              <a:t>Data preparation, analysis and visualization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8328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828800"/>
          </a:xfrm>
          <a:prstGeom prst="rect">
            <a:avLst/>
          </a:prstGeom>
          <a:solidFill>
            <a:srgbClr val="31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29718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MySQL / SQL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Used to organize customer information into related analytical tables and support data preparation.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07408" y="1417320"/>
            <a:ext cx="73152" cy="18288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600200"/>
            <a:ext cx="29718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Power BI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Used for data modelling, DAX measures, calculated columns, interactive visuals and dashboard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1417320"/>
            <a:ext cx="338328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37575" y="1417320"/>
            <a:ext cx="73152" cy="1828800"/>
          </a:xfrm>
          <a:prstGeom prst="rect">
            <a:avLst/>
          </a:prstGeom>
          <a:solidFill>
            <a:srgbClr val="3C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6175" y="1600200"/>
            <a:ext cx="29718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Excel / CSV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Used as the source dataset format and for initial data handling before analytics.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39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D3440"/>
                </a:solidFill>
              </a:defRPr>
            </a:pPr>
            <a:r>
              <a:t>Core Power BI techniques: relationships, filter context, slicers, cards, bar/column charts, donut/pie charts and combo charts.</a:t>
            </a:r>
          </a:p>
          <a:p>
            <a:pPr>
              <a:spcAft>
                <a:spcPts val="1200"/>
              </a:spcAft>
              <a:defRPr sz="1700" b="0">
                <a:solidFill>
                  <a:srgbClr val="2D3440"/>
                </a:solidFill>
              </a:defRPr>
            </a:pPr>
            <a:r>
              <a:t>DAX measures support KPIs such as Total Customers, Churned Customer, Active Customers, Churn Rate, Average Credit Score, Average Balance, Average Salary, Average Tenure and High Risk Customer.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014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5. Data Model &amp; Analytical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A"/>
                </a:solidFill>
              </a:defRPr>
            </a:pPr>
            <a:r>
              <a:t>The PBIX contains multiple analytical tables and a central customer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8328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297680"/>
          </a:xfrm>
          <a:prstGeom prst="rect">
            <a:avLst/>
          </a:prstGeom>
          <a:solidFill>
            <a:srgbClr val="31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7180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Customer Data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Customer ID</a:t>
            </a:r>
            <a:br/>
            <a:r>
              <a:t>Surname</a:t>
            </a:r>
            <a:br/>
            <a:r>
              <a:t>Age / Gender</a:t>
            </a:r>
            <a:br/>
            <a:r>
              <a:t>Geography</a:t>
            </a:r>
            <a:br/>
            <a:r>
              <a:t>Credit Score</a:t>
            </a:r>
            <a:br/>
            <a:r>
              <a:t>Balance</a:t>
            </a:r>
            <a:br/>
            <a:r>
              <a:t>Estimated Salary</a:t>
            </a:r>
            <a:br/>
            <a:r>
              <a:t>Tenure</a:t>
            </a:r>
            <a:br/>
            <a:r>
              <a:t>Number of Products</a:t>
            </a:r>
            <a:br/>
            <a:r>
              <a:t>Active Membership</a:t>
            </a:r>
            <a:br/>
            <a:r>
              <a:t>Exited / Churn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429768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08760"/>
            <a:ext cx="297180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Derived Analysis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Age Group</a:t>
            </a:r>
            <a:br/>
            <a:r>
              <a:t>Tenure Group</a:t>
            </a:r>
            <a:br/>
            <a:r>
              <a:t>Membership Status</a:t>
            </a:r>
            <a:br/>
            <a:r>
              <a:t>Risk Category</a:t>
            </a:r>
            <a:br/>
            <a:r>
              <a:t>Churn Status</a:t>
            </a:r>
            <a:br/>
            <a:r>
              <a:t>Financial categories</a:t>
            </a:r>
            <a:br/>
            <a:r>
              <a:t>Behaviour segments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38328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92440" y="1325880"/>
            <a:ext cx="73152" cy="4297680"/>
          </a:xfrm>
          <a:prstGeom prst="rect">
            <a:avLst/>
          </a:prstGeom>
          <a:solidFill>
            <a:srgbClr val="3C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508760"/>
            <a:ext cx="297180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Measures / KPIs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Total Customers</a:t>
            </a:r>
            <a:br/>
            <a:r>
              <a:t>Churned Customers</a:t>
            </a:r>
            <a:br/>
            <a:r>
              <a:t>Active Customers</a:t>
            </a:r>
            <a:br/>
            <a:r>
              <a:t>Churn Rate</a:t>
            </a:r>
            <a:br/>
            <a:r>
              <a:t>Average Credit Score</a:t>
            </a:r>
            <a:br/>
            <a:r>
              <a:t>Average Balance</a:t>
            </a:r>
            <a:br/>
            <a:r>
              <a:t>Average Salary</a:t>
            </a:r>
            <a:br/>
            <a:r>
              <a:t>Average Tenure</a:t>
            </a:r>
            <a:br/>
            <a:r>
              <a:t>Average Products</a:t>
            </a:r>
            <a:br/>
            <a:r>
              <a:t>High Risk Customers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014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6. Dashboard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A"/>
                </a:solidFill>
              </a:defRPr>
            </a:pPr>
            <a:r>
              <a:t>Five focused pages make the analysis easy to navigate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Executive Churn Overview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KPI cards + geography + gender + churn status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1208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73152" cy="1234440"/>
          </a:xfrm>
          <a:prstGeom prst="rect">
            <a:avLst/>
          </a:prstGeom>
          <a:solidFill>
            <a:srgbClr val="31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Customer Demographics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Geography, age group, gender and customer profile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26080"/>
            <a:ext cx="521208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926080"/>
            <a:ext cx="73152" cy="1234440"/>
          </a:xfrm>
          <a:prstGeom prst="rect">
            <a:avLst/>
          </a:prstGeom>
          <a:solidFill>
            <a:srgbClr val="3C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Financial &amp; Customer Profile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Credit score, balance, salary, tenure and financial comparisons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926080"/>
            <a:ext cx="521208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73152" cy="1234440"/>
          </a:xfrm>
          <a:prstGeom prst="rect">
            <a:avLst/>
          </a:prstGeom>
          <a:solidFill>
            <a:srgbClr val="91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Customer Behaviour Analysis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Tenure group, products, membership and engagement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4526280"/>
            <a:ext cx="521208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74720" y="4526280"/>
            <a:ext cx="73152" cy="1234440"/>
          </a:xfrm>
          <a:prstGeom prst="rect">
            <a:avLst/>
          </a:prstGeom>
          <a:solidFill>
            <a:srgbClr val="DC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03320" y="470916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Churn Risk Analysis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Risk category, high-risk customers and churn-risk comparisons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014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7. Key Dashboard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A"/>
                </a:solidFill>
              </a:defRPr>
            </a:pPr>
            <a:r>
              <a:t>What the dashboard is designed to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D3440"/>
                </a:solidFill>
              </a:defRPr>
            </a:pPr>
            <a:r>
              <a:t>Which geography or customer segment shows a comparatively higher churn pattern?</a:t>
            </a:r>
          </a:p>
          <a:p>
            <a:pPr>
              <a:spcAft>
                <a:spcPts val="1200"/>
              </a:spcAft>
              <a:defRPr sz="1800" b="0">
                <a:solidFill>
                  <a:srgbClr val="2D3440"/>
                </a:solidFill>
              </a:defRPr>
            </a:pPr>
            <a:r>
              <a:t>How does churn differ across gender and age groups?</a:t>
            </a:r>
          </a:p>
          <a:p>
            <a:pPr>
              <a:spcAft>
                <a:spcPts val="1200"/>
              </a:spcAft>
              <a:defRPr sz="1800" b="0">
                <a:solidFill>
                  <a:srgbClr val="2D3440"/>
                </a:solidFill>
              </a:defRPr>
            </a:pPr>
            <a:r>
              <a:t>Are customers with different product counts or tenure groups behaving differently?</a:t>
            </a:r>
          </a:p>
          <a:p>
            <a:pPr>
              <a:spcAft>
                <a:spcPts val="1200"/>
              </a:spcAft>
              <a:defRPr sz="1800" b="0">
                <a:solidFill>
                  <a:srgbClr val="2D3440"/>
                </a:solidFill>
              </a:defRPr>
            </a:pPr>
            <a:r>
              <a:t>How do financial indicators such as credit score, balance and salary relate to customer churn?</a:t>
            </a:r>
          </a:p>
          <a:p>
            <a:pPr>
              <a:spcAft>
                <a:spcPts val="1200"/>
              </a:spcAft>
              <a:defRPr sz="1800" b="0">
                <a:solidFill>
                  <a:srgbClr val="2D3440"/>
                </a:solidFill>
              </a:defRPr>
            </a:pPr>
            <a:r>
              <a:t>Which membership or activity segments require closer attention?</a:t>
            </a:r>
          </a:p>
          <a:p>
            <a:pPr>
              <a:spcAft>
                <a:spcPts val="1200"/>
              </a:spcAft>
              <a:defRPr sz="1800" b="0">
                <a:solidFill>
                  <a:srgbClr val="2D3440"/>
                </a:solidFill>
              </a:defRPr>
            </a:pPr>
            <a:r>
              <a:t>How many customers fall into high-risk categories, and where are they concentrated?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9707A"/>
                </a:solidFill>
              </a:defRPr>
            </a:pPr>
            <a:r>
              <a:t>Use the interactive slicers in the PBIX to validate these comparisons for each selected segment.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014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238"/>
                </a:solidFill>
              </a:defRPr>
            </a:pPr>
            <a:r>
              <a:t>8. Retention Strategy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A"/>
                </a:solidFill>
              </a:defRPr>
            </a:pPr>
            <a:r>
              <a:t>Turn dashboard findings into targeted business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28016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High-risk customers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Create proactive outreach and personalised retention offers.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25780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73152" cy="1280160"/>
          </a:xfrm>
          <a:prstGeom prst="rect">
            <a:avLst/>
          </a:prstGeom>
          <a:solidFill>
            <a:srgbClr val="31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508760"/>
            <a:ext cx="4846320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Low-engagement customers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Encourage digital banking usage and relevant product adoption.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26080"/>
            <a:ext cx="525780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926080"/>
            <a:ext cx="73152" cy="1280160"/>
          </a:xfrm>
          <a:prstGeom prst="rect">
            <a:avLst/>
          </a:prstGeom>
          <a:solidFill>
            <a:srgbClr val="3C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4846320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Product-related risk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Review customers with unusual product counts and identify service gaps.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26080"/>
            <a:ext cx="525780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73152" cy="1280160"/>
          </a:xfrm>
          <a:prstGeom prst="rect">
            <a:avLst/>
          </a:prstGeom>
          <a:solidFill>
            <a:srgbClr val="91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846320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Tenure-based strategy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Use different engagement strategies for new, mid-tenure and long-tenure customers.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26280"/>
            <a:ext cx="525780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4526280"/>
            <a:ext cx="73152" cy="1280160"/>
          </a:xfrm>
          <a:prstGeom prst="rect">
            <a:avLst/>
          </a:prstGeom>
          <a:solidFill>
            <a:srgbClr val="DC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4846320" cy="960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238"/>
                </a:solidFill>
              </a:defRPr>
            </a:pPr>
            <a:r>
              <a:t>Segment-based campaigns</a:t>
            </a:r>
          </a:p>
          <a:p>
            <a:pPr>
              <a:spcBef>
                <a:spcPts val="800"/>
              </a:spcBef>
              <a:defRPr sz="1300">
                <a:solidFill>
                  <a:srgbClr val="2D3440"/>
                </a:solidFill>
              </a:defRPr>
            </a:pPr>
            <a:r>
              <a:t>Target campaigns by geography, age, gender, financial profile and behaviour instead of using one broad campaign.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014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440"/>
                </a:solidFill>
              </a:defRPr>
            </a:pPr>
            <a:r>
              <a:t>Customer churn can be analysed from multiple dimensions instead of relying on a single KPI.</a:t>
            </a:r>
          </a:p>
          <a:p>
            <a:pPr>
              <a:spcAft>
                <a:spcPts val="1200"/>
              </a:spcAft>
              <a:defRPr sz="2000" b="0">
                <a:solidFill>
                  <a:srgbClr val="2D3440"/>
                </a:solidFill>
              </a:defRPr>
            </a:pPr>
            <a:r>
              <a:t>Power BI provides an interactive way to connect customer demographics, financial indicators and behaviour.</a:t>
            </a:r>
          </a:p>
          <a:p>
            <a:pPr>
              <a:spcAft>
                <a:spcPts val="1200"/>
              </a:spcAft>
              <a:defRPr sz="2000" b="0">
                <a:solidFill>
                  <a:srgbClr val="2D3440"/>
                </a:solidFill>
              </a:defRPr>
            </a:pPr>
            <a:r>
              <a:t>The dashboard helps management identify customer segments that need attention and supports data-driven retention planning.</a:t>
            </a:r>
          </a:p>
          <a:p>
            <a:pPr>
              <a:spcAft>
                <a:spcPts val="1200"/>
              </a:spcAft>
              <a:defRPr sz="2000" b="0">
                <a:solidFill>
                  <a:srgbClr val="2D3440"/>
                </a:solidFill>
              </a:defRPr>
            </a:pPr>
            <a:r>
              <a:t>Future enhancement: add transaction-level trends, customer lifetime value, campaign response and predictive churn scoring.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Thank You  |  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860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S0395935</cp:lastModifiedBy>
  <cp:revision>3</cp:revision>
  <dcterms:created xsi:type="dcterms:W3CDTF">2013-01-27T09:14:16Z</dcterms:created>
  <dcterms:modified xsi:type="dcterms:W3CDTF">2026-08-21T07:07:35Z</dcterms:modified>
  <cp:category/>
</cp:coreProperties>
</file>